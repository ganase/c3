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20000" y="520000"/>
            <a:ext cx="8200000" cy="6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3400" b="1">
                <a:solidFill>
                  <a:srgbClr val="13252D"/>
                </a:solidFill>
              </a:rPr>
              <a:t>WHOLEI 関係性レポート</a:t>
            </a:r>
            <a:endParaRPr lang="ja-JP" sz="3400"/>
          </a:p>
        </p:txBody>
      </p:sp>
      <p:sp>
        <p:nvSpPr>
          <p:cNvPr id="12" name="Text 12"/>
          <p:cNvSpPr txBox="1"/>
          <p:nvPr/>
        </p:nvSpPr>
        <p:spPr>
          <a:xfrm>
            <a:off x="520000" y="1220000"/>
            <a:ext cx="8200000" cy="4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800">
                <a:solidFill>
                  <a:srgbClr val="52707F"/>
                </a:solidFill>
              </a:rPr>
              <a:t>WHOLEI verification</a:t>
            </a:r>
            <a:endParaRPr lang="ja-JP" sz="1800"/>
          </a:p>
        </p:txBody>
      </p:sp>
      <p:sp>
        <p:nvSpPr>
          <p:cNvPr id="13" name="Text 13"/>
          <p:cNvSpPr txBox="1"/>
          <p:nvPr/>
        </p:nvSpPr>
        <p:spPr>
          <a:xfrm>
            <a:off x="760000" y="190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フォルダ内の資料を、Obsidian で追跡できる知識ネットワークへ変換しました。</a:t>
            </a:r>
            <a:endParaRPr lang="ja-JP" sz="1600"/>
          </a:p>
        </p:txBody>
      </p:sp>
      <p:sp>
        <p:nvSpPr>
          <p:cNvPr id="14" name="Text 14"/>
          <p:cNvSpPr txBox="1"/>
          <p:nvPr/>
        </p:nvSpPr>
        <p:spPr>
          <a:xfrm>
            <a:off x="760000" y="238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Source ファイル 3 件 / 検出した関係 3 件</a:t>
            </a:r>
            <a:endParaRPr lang="ja-JP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5"/>
          <p:cNvSpPr txBox="1"/>
          <p:nvPr/>
        </p:nvSpPr>
        <p:spPr>
          <a:xfrm>
            <a:off x="520000" y="420000"/>
            <a:ext cx="8200000" cy="5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3000" b="1">
                <a:solidFill>
                  <a:srgbClr val="13252D"/>
                </a:solidFill>
              </a:rPr>
              <a:t>ネットワーク図</a:t>
            </a:r>
            <a:endParaRPr lang="ja-JP" sz="3000"/>
          </a:p>
        </p:txBody>
      </p:sp>
      <p:cxnSp>
        <p:nvCxnSpPr>
          <p:cNvPr id="16" name="Connector 16"/>
          <p:cNvCxnSpPr/>
          <p:nvPr/>
        </p:nvCxnSpPr>
        <p:spPr>
          <a:xfrm>
            <a:off x="4700000" y="2180160"/>
            <a:ext cx="1215741" cy="1867320"/>
          </a:xfrm>
          <a:prstGeom prst="line">
            <a:avLst/>
          </a:prstGeom>
          <a:ln w="32000">
            <a:solidFill>
              <a:srgbClr val="52707F"/>
            </a:solidFill>
          </a:ln>
        </p:spPr>
      </p:cxnSp>
      <p:cxnSp>
        <p:nvCxnSpPr>
          <p:cNvPr id="17" name="Connector 17"/>
          <p:cNvCxnSpPr/>
          <p:nvPr/>
        </p:nvCxnSpPr>
        <p:spPr>
          <a:xfrm flipH="1">
            <a:off x="3425669" y="2180160"/>
            <a:ext cx="1274331" cy="1897560"/>
          </a:xfrm>
          <a:prstGeom prst="line">
            <a:avLst/>
          </a:prstGeom>
          <a:ln w="32000">
            <a:solidFill>
              <a:srgbClr val="52707F"/>
            </a:solidFill>
          </a:ln>
        </p:spPr>
      </p:cxnSp>
      <p:cxnSp>
        <p:nvCxnSpPr>
          <p:cNvPr id="18" name="Connector 18"/>
          <p:cNvCxnSpPr/>
          <p:nvPr/>
        </p:nvCxnSpPr>
        <p:spPr>
          <a:xfrm flipH="1">
            <a:off x="3425669" y="4047480"/>
            <a:ext cx="2490072" cy="30240"/>
          </a:xfrm>
          <a:prstGeom prst="line">
            <a:avLst/>
          </a:prstGeom>
          <a:ln w="32000">
            <a:solidFill>
              <a:srgbClr val="52707F"/>
            </a:solidFill>
          </a:ln>
        </p:spPr>
      </p:cxnSp>
      <p:sp>
        <p:nvSpPr>
          <p:cNvPr id="19" name="Node 19"/>
          <p:cNvSpPr/>
          <p:nvPr/>
        </p:nvSpPr>
        <p:spPr>
          <a:xfrm>
            <a:off x="4520000" y="2000160"/>
            <a:ext cx="360000" cy="360000"/>
          </a:xfrm>
          <a:prstGeom prst="ellipse">
            <a:avLst/>
          </a:prstGeom>
          <a:solidFill>
            <a:srgbClr val="F6F2E8"/>
          </a:solidFill>
          <a:ln w="22000">
            <a:solidFill>
              <a:srgbClr val="1E4F5F"/>
            </a:solidFill>
          </a:ln>
        </p:spPr>
        <p:txBody>
          <a:bodyPr anchor="ctr"/>
          <a:lstStyle/>
          <a:p>
            <a:pPr algn="ctr"/>
            <a:r>
              <a:rPr lang="ja-JP" sz="900">
                <a:solidFill>
                  <a:srgbClr val="13252D"/>
                </a:solidFill>
              </a:rPr>
              <a:t>audit-notes.txt</a:t>
            </a:r>
          </a:p>
        </p:txBody>
      </p:sp>
      <p:sp>
        <p:nvSpPr>
          <p:cNvPr id="20" name="Node 20"/>
          <p:cNvSpPr/>
          <p:nvPr/>
        </p:nvSpPr>
        <p:spPr>
          <a:xfrm>
            <a:off x="5735741" y="3867480"/>
            <a:ext cx="360000" cy="360000"/>
          </a:xfrm>
          <a:prstGeom prst="ellipse">
            <a:avLst/>
          </a:prstGeom>
          <a:solidFill>
            <a:srgbClr val="F6F2E8"/>
          </a:solidFill>
          <a:ln w="22000">
            <a:solidFill>
              <a:srgbClr val="1E4F5F"/>
            </a:solidFill>
          </a:ln>
        </p:spPr>
        <p:txBody>
          <a:bodyPr anchor="ctr"/>
          <a:lstStyle/>
          <a:p>
            <a:pPr algn="ctr"/>
            <a:r>
              <a:rPr lang="ja-JP" sz="900">
                <a:solidFill>
                  <a:srgbClr val="13252D"/>
                </a:solidFill>
              </a:rPr>
              <a:t>requirements.md</a:t>
            </a:r>
          </a:p>
        </p:txBody>
      </p:sp>
      <p:sp>
        <p:nvSpPr>
          <p:cNvPr id="21" name="Node 21"/>
          <p:cNvSpPr/>
          <p:nvPr/>
        </p:nvSpPr>
        <p:spPr>
          <a:xfrm>
            <a:off x="3245669" y="3897720"/>
            <a:ext cx="360000" cy="360000"/>
          </a:xfrm>
          <a:prstGeom prst="ellipse">
            <a:avLst/>
          </a:prstGeom>
          <a:solidFill>
            <a:srgbClr val="F6F2E8"/>
          </a:solidFill>
          <a:ln w="22000">
            <a:solidFill>
              <a:srgbClr val="1E4F5F"/>
            </a:solidFill>
          </a:ln>
        </p:spPr>
        <p:txBody>
          <a:bodyPr anchor="ctr"/>
          <a:lstStyle/>
          <a:p>
            <a:pPr algn="ctr"/>
            <a:r>
              <a:rPr lang="ja-JP" sz="900">
                <a:solidFill>
                  <a:srgbClr val="13252D"/>
                </a:solidFill>
              </a:rPr>
              <a:t>sales.csv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2"/>
          <p:cNvSpPr txBox="1"/>
          <p:nvPr/>
        </p:nvSpPr>
        <p:spPr>
          <a:xfrm>
            <a:off x="520000" y="520000"/>
            <a:ext cx="8200000" cy="6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3400" b="1">
                <a:solidFill>
                  <a:srgbClr val="13252D"/>
                </a:solidFill>
              </a:rPr>
              <a:t>主要な関係シグナル</a:t>
            </a:r>
            <a:endParaRPr lang="ja-JP" sz="3400"/>
          </a:p>
        </p:txBody>
      </p:sp>
      <p:sp>
        <p:nvSpPr>
          <p:cNvPr id="23" name="Text 23"/>
          <p:cNvSpPr txBox="1"/>
          <p:nvPr/>
        </p:nvSpPr>
        <p:spPr>
          <a:xfrm>
            <a:off x="520000" y="1220000"/>
            <a:ext cx="8200000" cy="4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800">
                <a:solidFill>
                  <a:srgbClr val="52707F"/>
                </a:solidFill>
              </a:rPr>
              <a:t>重みの高いリンク</a:t>
            </a:r>
            <a:endParaRPr lang="ja-JP" sz="1800"/>
          </a:p>
        </p:txBody>
      </p:sp>
      <p:sp>
        <p:nvSpPr>
          <p:cNvPr id="24" name="Text 24"/>
          <p:cNvSpPr txBox="1"/>
          <p:nvPr/>
        </p:nvSpPr>
        <p:spPr>
          <a:xfrm>
            <a:off x="760000" y="190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audit-notes.txt -&gt; requirements.md: sales, audit-notes, txt, audit</a:t>
            </a:r>
            <a:endParaRPr lang="ja-JP" sz="1600"/>
          </a:p>
        </p:txBody>
      </p:sp>
      <p:sp>
        <p:nvSpPr>
          <p:cNvPr id="25" name="Text 25"/>
          <p:cNvSpPr txBox="1"/>
          <p:nvPr/>
        </p:nvSpPr>
        <p:spPr>
          <a:xfrm>
            <a:off x="760000" y="238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audit-notes.txt -&gt; sales.csv: sales, audit, csv, checked</a:t>
            </a:r>
            <a:endParaRPr lang="ja-JP" sz="1600"/>
          </a:p>
        </p:txBody>
      </p:sp>
      <p:sp>
        <p:nvSpPr>
          <p:cNvPr id="26" name="Text 26"/>
          <p:cNvSpPr txBox="1"/>
          <p:nvPr/>
        </p:nvSpPr>
        <p:spPr>
          <a:xfrm>
            <a:off x="760000" y="286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requirements.md -&gt; sales.csv: sales, audit, csv</a:t>
            </a:r>
            <a:endParaRPr lang="ja-JP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7"/>
          <p:cNvSpPr txBox="1"/>
          <p:nvPr/>
        </p:nvSpPr>
        <p:spPr>
          <a:xfrm>
            <a:off x="520000" y="520000"/>
            <a:ext cx="8200000" cy="6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3400" b="1">
                <a:solidFill>
                  <a:srgbClr val="13252D"/>
                </a:solidFill>
              </a:rPr>
              <a:t>確認ワークフロー</a:t>
            </a:r>
            <a:endParaRPr lang="ja-JP" sz="3400"/>
          </a:p>
        </p:txBody>
      </p:sp>
      <p:sp>
        <p:nvSpPr>
          <p:cNvPr id="28" name="Text 28"/>
          <p:cNvSpPr txBox="1"/>
          <p:nvPr/>
        </p:nvSpPr>
        <p:spPr>
          <a:xfrm>
            <a:off x="520000" y="1220000"/>
            <a:ext cx="8200000" cy="4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800">
                <a:solidFill>
                  <a:srgbClr val="52707F"/>
                </a:solidFill>
              </a:rPr>
              <a:t>Obsidian + WHOLEI outputs</a:t>
            </a:r>
            <a:endParaRPr lang="ja-JP" sz="1800"/>
          </a:p>
        </p:txBody>
      </p:sp>
      <p:sp>
        <p:nvSpPr>
          <p:cNvPr id="29" name="Text 29"/>
          <p:cNvSpPr txBox="1"/>
          <p:nvPr/>
        </p:nvSpPr>
        <p:spPr>
          <a:xfrm>
            <a:off x="760000" y="190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案件フォルダを Obsidian vault として開きます。</a:t>
            </a:r>
            <a:endParaRPr lang="ja-JP" sz="1600"/>
          </a:p>
        </p:txBody>
      </p:sp>
      <p:sp>
        <p:nvSpPr>
          <p:cNvPr id="30" name="Text 30"/>
          <p:cNvSpPr txBox="1"/>
          <p:nvPr/>
        </p:nvSpPr>
        <p:spPr>
          <a:xfrm>
            <a:off x="760000" y="238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Graph view と WHOLEI.md で関係性を確認します。</a:t>
            </a:r>
            <a:endParaRPr lang="ja-JP" sz="1600"/>
          </a:p>
        </p:txBody>
      </p:sp>
      <p:sp>
        <p:nvSpPr>
          <p:cNvPr id="31" name="Text 31"/>
          <p:cNvSpPr txBox="1"/>
          <p:nvPr/>
        </p:nvSpPr>
        <p:spPr>
          <a:xfrm>
            <a:off x="760000" y="2860000"/>
            <a:ext cx="82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ja-JP" sz="1600">
                <a:solidFill>
                  <a:srgbClr val="13252D"/>
                </a:solidFill>
              </a:rPr>
              <a:t>• この PPTX を使ってフォルダ構造と関係性を視覚的に説明します。</a:t>
            </a:r>
            <a:endParaRPr lang="ja-JP" sz="16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WHOLEI</Application>
  <PresentationFormat>On-screen Show (16:9)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WHOLEI verification</dc:title>
  <dc:creator>WHOLEI</dc:creator>
  <cp:lastModifiedBy>WHOLEI</cp:lastModifiedBy>
  <dcterms:created xsi:type="dcterms:W3CDTF">2026-05-01T09:42:54.215Z</dcterms:created>
  <dcterms:modified xsi:type="dcterms:W3CDTF">2026-05-01T09:42:54.215Z</dcterms:modified>
</cp:coreProperties>
</file>